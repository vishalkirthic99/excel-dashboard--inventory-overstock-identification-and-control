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4093646feba0ae9/Desktop/NOVITECH%20DA%20course/Excel/EXCEL%201%20Project%2025.10.26/Excel%201%20Cleaned%20datas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4093646feba0ae9/Desktop/NOVITECH%20DA%20course/Excel/EXCEL%201%20Project%2025.10.26/Excel%201%20Cleaned%20datas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4093646feba0ae9/Desktop/NOVITECH%20DA%20course/Excel/EXCEL%201%20Project%2025.10.26/Excel%201%20Cleaned%20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4093646feba0ae9/Desktop/NOVITECH%20DA%20course/Excel/EXCEL%201%20Project%2025.10.26/Excel%201%20Cleaned%20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4093646feba0ae9/Desktop/NOVITECH%20DA%20course/Excel/EXCEL%201%20Project%2025.10.26/Excel%201%20Cleaned%20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4093646feba0ae9/Desktop/NOVITECH%20DA%20course/Excel/EXCEL%201%20Project%2025.10.26/Excel%201%20Cleaned%20datas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1 Cleaned dataset.xlsx]Sales analysis!PivotTable1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</a:t>
            </a:r>
            <a:r>
              <a:rPr lang="en-US" baseline="0" dirty="0"/>
              <a:t> -Top 10 Product by Revenue</a:t>
            </a:r>
            <a:endParaRPr lang="en-US" dirty="0"/>
          </a:p>
        </c:rich>
      </c:tx>
      <c:layout>
        <c:manualLayout>
          <c:xMode val="edge"/>
          <c:yMode val="edge"/>
          <c:x val="0.32214810958547535"/>
          <c:y val="5.1630953440375623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pPr>
            <a:gradFill>
              <a:gsLst>
                <a:gs pos="0">
                  <a:schemeClr val="accent1"/>
                </a:gs>
                <a:gs pos="46000">
                  <a:schemeClr val="accent1"/>
                </a:gs>
                <a:gs pos="100000">
                  <a:schemeClr val="accent1">
                    <a:lumMod val="20000"/>
                    <a:lumOff val="80000"/>
                    <a:alpha val="0"/>
                  </a:schemeClr>
                </a:gs>
              </a:gsLst>
              <a:path path="circle">
                <a:fillToRect l="50000" t="-80000" r="50000" b="180000"/>
              </a:path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</c:marker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6260698057703558"/>
          <c:y val="5.7616351372676192E-2"/>
          <c:w val="0.67230586703603434"/>
          <c:h val="0.5985221347331584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'Sales analysis'!$B$3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'Sales analysis'!$A$4:$A$14</c:f>
              <c:strCache>
                <c:ptCount val="10"/>
                <c:pt idx="0">
                  <c:v>Desk Lamp</c:v>
                </c:pt>
                <c:pt idx="1">
                  <c:v>Power Bank</c:v>
                </c:pt>
                <c:pt idx="2">
                  <c:v>Laptop Stand</c:v>
                </c:pt>
                <c:pt idx="3">
                  <c:v>Headphones</c:v>
                </c:pt>
                <c:pt idx="4">
                  <c:v>Backpack</c:v>
                </c:pt>
                <c:pt idx="5">
                  <c:v>Bluetooth Speaker</c:v>
                </c:pt>
                <c:pt idx="6">
                  <c:v>Office Chair</c:v>
                </c:pt>
                <c:pt idx="7">
                  <c:v>USB-C Cable</c:v>
                </c:pt>
                <c:pt idx="8">
                  <c:v>Wireless Mouse</c:v>
                </c:pt>
                <c:pt idx="9">
                  <c:v>Keyboard</c:v>
                </c:pt>
              </c:strCache>
            </c:strRef>
          </c:cat>
          <c:val>
            <c:numRef>
              <c:f>'Sales analysis'!$B$4:$B$14</c:f>
              <c:numCache>
                <c:formatCode>_([$€-2]\ * #,##0.00_);_([$€-2]\ * \(#,##0.00\);_([$€-2]\ * "-"??_);_(@_)</c:formatCode>
                <c:ptCount val="10"/>
                <c:pt idx="0">
                  <c:v>18975.059999999983</c:v>
                </c:pt>
                <c:pt idx="1">
                  <c:v>21632.67</c:v>
                </c:pt>
                <c:pt idx="2">
                  <c:v>22089.78</c:v>
                </c:pt>
                <c:pt idx="3">
                  <c:v>24041.91</c:v>
                </c:pt>
                <c:pt idx="4">
                  <c:v>24779.819999999996</c:v>
                </c:pt>
                <c:pt idx="5">
                  <c:v>34178.340000000011</c:v>
                </c:pt>
                <c:pt idx="6">
                  <c:v>39464.14</c:v>
                </c:pt>
                <c:pt idx="7">
                  <c:v>41451.480000000003</c:v>
                </c:pt>
                <c:pt idx="8">
                  <c:v>47178.47</c:v>
                </c:pt>
                <c:pt idx="9">
                  <c:v>76877.060000000012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29-4B15-B317-07F898C2C48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1907891008"/>
        <c:axId val="1907878048"/>
      </c:barChart>
      <c:catAx>
        <c:axId val="190789100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/>
                  <a:t>Product</a:t>
                </a:r>
              </a:p>
            </c:rich>
          </c:tx>
          <c:layout>
            <c:manualLayout>
              <c:xMode val="edge"/>
              <c:yMode val="edge"/>
              <c:x val="9.2383326561167271E-3"/>
              <c:y val="0.218166905273204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878048"/>
        <c:crosses val="autoZero"/>
        <c:auto val="1"/>
        <c:lblAlgn val="ctr"/>
        <c:lblOffset val="100"/>
        <c:noMultiLvlLbl val="0"/>
      </c:catAx>
      <c:valAx>
        <c:axId val="190787804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tx1">
                      <a:lumMod val="5000"/>
                      <a:lumOff val="95000"/>
                    </a:schemeClr>
                  </a:gs>
                  <a:gs pos="10000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Revenue </a:t>
                </a:r>
              </a:p>
            </c:rich>
          </c:tx>
          <c:layout>
            <c:manualLayout>
              <c:xMode val="edge"/>
              <c:yMode val="edge"/>
              <c:x val="0.40581873708112726"/>
              <c:y val="0.807883989501312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[$€-2]\ * #,##0.00_);_([$€-2]\ * \(#,##0.00\);_([$€-2]\ 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891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528186310717396"/>
          <c:y val="0.12711501789863414"/>
          <c:w val="0.19405450226921511"/>
          <c:h val="9.49957022825535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1 Cleaned dataset.xlsx]Product analysis!PivotTable2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 i="0" u="none" strike="noStrike" kern="1200" cap="all" spc="150" baseline="0">
                <a:solidFill>
                  <a:sysClr val="windowText" lastClr="000000">
                    <a:lumMod val="50000"/>
                    <a:lumOff val="50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-1" baseline="0">
                <a:solidFill>
                  <a:srgbClr val="000000"/>
                </a:solidFill>
                <a:latin typeface="Calibri"/>
              </a:rPr>
              <a:t>Product – Units Sold by Product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50000"/>
                    <a:lumOff val="50000"/>
                  </a:sysClr>
                </a:solidFill>
              </a:defRPr>
            </a:pPr>
            <a:endParaRPr lang="en-US" sz="1400" b="1"/>
          </a:p>
        </c:rich>
      </c:tx>
      <c:layout>
        <c:manualLayout>
          <c:xMode val="edge"/>
          <c:yMode val="edge"/>
          <c:x val="0.28692341166231505"/>
          <c:y val="2.92625001767059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00" b="1" i="0" u="none" strike="noStrike" kern="1200" cap="all" spc="150" baseline="0">
              <a:solidFill>
                <a:sysClr val="windowText" lastClr="000000">
                  <a:lumMod val="50000"/>
                  <a:lumOff val="50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nar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nar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nar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nar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narVert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3576085370316746"/>
          <c:y val="0.11017743904483297"/>
          <c:w val="0.59847813572911746"/>
          <c:h val="0.755964162442023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'Product analysis'!$B$3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narVert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'Product analysis'!$A$4:$A$28</c:f>
              <c:strCache>
                <c:ptCount val="24"/>
                <c:pt idx="0">
                  <c:v>Filing Cabinet</c:v>
                </c:pt>
                <c:pt idx="1">
                  <c:v>Webcam</c:v>
                </c:pt>
                <c:pt idx="2">
                  <c:v>Office Chair</c:v>
                </c:pt>
                <c:pt idx="3">
                  <c:v>Headphones</c:v>
                </c:pt>
                <c:pt idx="4">
                  <c:v>Monitor Riser</c:v>
                </c:pt>
                <c:pt idx="5">
                  <c:v>Backpack</c:v>
                </c:pt>
                <c:pt idx="6">
                  <c:v>Coffee Mug</c:v>
                </c:pt>
                <c:pt idx="7">
                  <c:v>Laptop Stand</c:v>
                </c:pt>
                <c:pt idx="8">
                  <c:v>Desk Lamp</c:v>
                </c:pt>
                <c:pt idx="9">
                  <c:v>Travel Tumbler</c:v>
                </c:pt>
                <c:pt idx="10">
                  <c:v>Power Bank</c:v>
                </c:pt>
                <c:pt idx="11">
                  <c:v>Bluetooth Speaker</c:v>
                </c:pt>
                <c:pt idx="12">
                  <c:v>Lunch Bag</c:v>
                </c:pt>
                <c:pt idx="13">
                  <c:v>HDMI Adapter</c:v>
                </c:pt>
                <c:pt idx="14">
                  <c:v>Planner</c:v>
                </c:pt>
                <c:pt idx="15">
                  <c:v>Water Bottle</c:v>
                </c:pt>
                <c:pt idx="16">
                  <c:v>Storage Box</c:v>
                </c:pt>
                <c:pt idx="17">
                  <c:v>Ballpoint Pens</c:v>
                </c:pt>
                <c:pt idx="18">
                  <c:v>Printer Paper</c:v>
                </c:pt>
                <c:pt idx="19">
                  <c:v>Sticky Notes</c:v>
                </c:pt>
                <c:pt idx="20">
                  <c:v>Notebook Pack</c:v>
                </c:pt>
                <c:pt idx="21">
                  <c:v>Keyboard</c:v>
                </c:pt>
                <c:pt idx="22">
                  <c:v>Wireless Mouse</c:v>
                </c:pt>
                <c:pt idx="23">
                  <c:v>USB-C Cable</c:v>
                </c:pt>
              </c:strCache>
            </c:strRef>
          </c:cat>
          <c:val>
            <c:numRef>
              <c:f>'Product analysis'!$B$4:$B$28</c:f>
              <c:numCache>
                <c:formatCode>General</c:formatCode>
                <c:ptCount val="24"/>
                <c:pt idx="0">
                  <c:v>81</c:v>
                </c:pt>
                <c:pt idx="1">
                  <c:v>197</c:v>
                </c:pt>
                <c:pt idx="2">
                  <c:v>269</c:v>
                </c:pt>
                <c:pt idx="3">
                  <c:v>414</c:v>
                </c:pt>
                <c:pt idx="4">
                  <c:v>451</c:v>
                </c:pt>
                <c:pt idx="5">
                  <c:v>647</c:v>
                </c:pt>
                <c:pt idx="6">
                  <c:v>752</c:v>
                </c:pt>
                <c:pt idx="7">
                  <c:v>766</c:v>
                </c:pt>
                <c:pt idx="8">
                  <c:v>769</c:v>
                </c:pt>
                <c:pt idx="9">
                  <c:v>774</c:v>
                </c:pt>
                <c:pt idx="10">
                  <c:v>817</c:v>
                </c:pt>
                <c:pt idx="11">
                  <c:v>825</c:v>
                </c:pt>
                <c:pt idx="12">
                  <c:v>836</c:v>
                </c:pt>
                <c:pt idx="13">
                  <c:v>1041</c:v>
                </c:pt>
                <c:pt idx="14">
                  <c:v>1089</c:v>
                </c:pt>
                <c:pt idx="15">
                  <c:v>1131</c:v>
                </c:pt>
                <c:pt idx="16">
                  <c:v>1323</c:v>
                </c:pt>
                <c:pt idx="17">
                  <c:v>1932</c:v>
                </c:pt>
                <c:pt idx="18">
                  <c:v>2124</c:v>
                </c:pt>
                <c:pt idx="19">
                  <c:v>2287</c:v>
                </c:pt>
                <c:pt idx="20">
                  <c:v>2297</c:v>
                </c:pt>
                <c:pt idx="21">
                  <c:v>2303</c:v>
                </c:pt>
                <c:pt idx="22">
                  <c:v>2590</c:v>
                </c:pt>
                <c:pt idx="23">
                  <c:v>4202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3E-4537-81CF-0AE7558C24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7"/>
        <c:overlap val="-48"/>
        <c:axId val="193178560"/>
        <c:axId val="193177120"/>
      </c:barChart>
      <c:valAx>
        <c:axId val="193177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unit sold</a:t>
                </a:r>
                <a:r>
                  <a:rPr lang="en-US" sz="1100" baseline="0"/>
                  <a:t> </a:t>
                </a:r>
                <a:endParaRPr lang="en-US" sz="11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178560"/>
        <c:crosses val="autoZero"/>
        <c:crossBetween val="between"/>
      </c:valAx>
      <c:catAx>
        <c:axId val="19317856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Product</a:t>
                </a:r>
              </a:p>
            </c:rich>
          </c:tx>
          <c:layout>
            <c:manualLayout>
              <c:xMode val="edge"/>
              <c:yMode val="edge"/>
              <c:x val="9.8288350692068246E-2"/>
              <c:y val="0.3002282471603148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177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[Excel 1 Cleaned dataset.xlsx]Overstock !PivotTable3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Top 15 - Over</a:t>
            </a:r>
            <a:r>
              <a:rPr lang="en-US" baseline="0" dirty="0"/>
              <a:t>stock analysis</a:t>
            </a:r>
            <a:endParaRPr lang="en-US" dirty="0"/>
          </a:p>
        </c:rich>
      </c:tx>
      <c:layout>
        <c:manualLayout>
          <c:xMode val="edge"/>
          <c:yMode val="edge"/>
          <c:x val="0.23547976838114562"/>
          <c:y val="2.54719888114300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'Overstock '!$B$3</c:f>
              <c:strCache>
                <c:ptCount val="1"/>
                <c:pt idx="0">
                  <c:v>Sum of Unit_Sold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'Overstock '!$A$4:$A$19</c:f>
              <c:strCache>
                <c:ptCount val="15"/>
                <c:pt idx="0">
                  <c:v>Ballpoint Pens</c:v>
                </c:pt>
                <c:pt idx="1">
                  <c:v>Bluetooth Speaker</c:v>
                </c:pt>
                <c:pt idx="2">
                  <c:v>HDMI Adapter</c:v>
                </c:pt>
                <c:pt idx="3">
                  <c:v>Keyboard</c:v>
                </c:pt>
                <c:pt idx="4">
                  <c:v>Lunch Bag</c:v>
                </c:pt>
                <c:pt idx="5">
                  <c:v>Notebook Pack</c:v>
                </c:pt>
                <c:pt idx="6">
                  <c:v>Planner</c:v>
                </c:pt>
                <c:pt idx="7">
                  <c:v>Power Bank</c:v>
                </c:pt>
                <c:pt idx="8">
                  <c:v>Printer Paper</c:v>
                </c:pt>
                <c:pt idx="9">
                  <c:v>Sticky Notes</c:v>
                </c:pt>
                <c:pt idx="10">
                  <c:v>Storage Box</c:v>
                </c:pt>
                <c:pt idx="11">
                  <c:v>Travel Tumbler</c:v>
                </c:pt>
                <c:pt idx="12">
                  <c:v>USB-C Cable</c:v>
                </c:pt>
                <c:pt idx="13">
                  <c:v>Water Bottle</c:v>
                </c:pt>
                <c:pt idx="14">
                  <c:v>Wireless Mouse</c:v>
                </c:pt>
              </c:strCache>
            </c:strRef>
          </c:cat>
          <c:val>
            <c:numRef>
              <c:f>'Overstock '!$B$4:$B$19</c:f>
              <c:numCache>
                <c:formatCode>General</c:formatCode>
                <c:ptCount val="15"/>
                <c:pt idx="0">
                  <c:v>1932</c:v>
                </c:pt>
                <c:pt idx="1">
                  <c:v>825</c:v>
                </c:pt>
                <c:pt idx="2">
                  <c:v>1041</c:v>
                </c:pt>
                <c:pt idx="3">
                  <c:v>2303</c:v>
                </c:pt>
                <c:pt idx="4">
                  <c:v>836</c:v>
                </c:pt>
                <c:pt idx="5">
                  <c:v>2297</c:v>
                </c:pt>
                <c:pt idx="6">
                  <c:v>1089</c:v>
                </c:pt>
                <c:pt idx="7">
                  <c:v>817</c:v>
                </c:pt>
                <c:pt idx="8">
                  <c:v>2124</c:v>
                </c:pt>
                <c:pt idx="9">
                  <c:v>2287</c:v>
                </c:pt>
                <c:pt idx="10">
                  <c:v>1323</c:v>
                </c:pt>
                <c:pt idx="11">
                  <c:v>774</c:v>
                </c:pt>
                <c:pt idx="12">
                  <c:v>4202</c:v>
                </c:pt>
                <c:pt idx="13">
                  <c:v>1131</c:v>
                </c:pt>
                <c:pt idx="14">
                  <c:v>2590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14-461A-AFC2-3798BB360300}"/>
            </c:ext>
          </c:extLst>
        </c:ser>
        <c:ser>
          <c:idx val="1"/>
          <c:order val="1"/>
          <c:tx>
            <c:strRef>
              <c:f>'Overstock '!$C$3</c:f>
              <c:strCache>
                <c:ptCount val="1"/>
                <c:pt idx="0">
                  <c:v>Sum of Stock_Quantity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'Overstock '!$A$4:$A$19</c:f>
              <c:strCache>
                <c:ptCount val="15"/>
                <c:pt idx="0">
                  <c:v>Ballpoint Pens</c:v>
                </c:pt>
                <c:pt idx="1">
                  <c:v>Bluetooth Speaker</c:v>
                </c:pt>
                <c:pt idx="2">
                  <c:v>HDMI Adapter</c:v>
                </c:pt>
                <c:pt idx="3">
                  <c:v>Keyboard</c:v>
                </c:pt>
                <c:pt idx="4">
                  <c:v>Lunch Bag</c:v>
                </c:pt>
                <c:pt idx="5">
                  <c:v>Notebook Pack</c:v>
                </c:pt>
                <c:pt idx="6">
                  <c:v>Planner</c:v>
                </c:pt>
                <c:pt idx="7">
                  <c:v>Power Bank</c:v>
                </c:pt>
                <c:pt idx="8">
                  <c:v>Printer Paper</c:v>
                </c:pt>
                <c:pt idx="9">
                  <c:v>Sticky Notes</c:v>
                </c:pt>
                <c:pt idx="10">
                  <c:v>Storage Box</c:v>
                </c:pt>
                <c:pt idx="11">
                  <c:v>Travel Tumbler</c:v>
                </c:pt>
                <c:pt idx="12">
                  <c:v>USB-C Cable</c:v>
                </c:pt>
                <c:pt idx="13">
                  <c:v>Water Bottle</c:v>
                </c:pt>
                <c:pt idx="14">
                  <c:v>Wireless Mouse</c:v>
                </c:pt>
              </c:strCache>
            </c:strRef>
          </c:cat>
          <c:val>
            <c:numRef>
              <c:f>'Overstock '!$C$4:$C$19</c:f>
              <c:numCache>
                <c:formatCode>General</c:formatCode>
                <c:ptCount val="15"/>
                <c:pt idx="0">
                  <c:v>23585</c:v>
                </c:pt>
                <c:pt idx="1">
                  <c:v>8281</c:v>
                </c:pt>
                <c:pt idx="2">
                  <c:v>3836</c:v>
                </c:pt>
                <c:pt idx="3">
                  <c:v>6110</c:v>
                </c:pt>
                <c:pt idx="4">
                  <c:v>8192</c:v>
                </c:pt>
                <c:pt idx="5">
                  <c:v>24469</c:v>
                </c:pt>
                <c:pt idx="6">
                  <c:v>17143</c:v>
                </c:pt>
                <c:pt idx="7">
                  <c:v>3784</c:v>
                </c:pt>
                <c:pt idx="8">
                  <c:v>24170</c:v>
                </c:pt>
                <c:pt idx="9">
                  <c:v>28262</c:v>
                </c:pt>
                <c:pt idx="10">
                  <c:v>11442</c:v>
                </c:pt>
                <c:pt idx="11">
                  <c:v>8061</c:v>
                </c:pt>
                <c:pt idx="12">
                  <c:v>9447</c:v>
                </c:pt>
                <c:pt idx="13">
                  <c:v>4209</c:v>
                </c:pt>
                <c:pt idx="14">
                  <c:v>6950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14-461A-AFC2-3798BB3603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18957008"/>
        <c:axId val="2018950768"/>
        <c:axId val="0"/>
      </c:bar3DChart>
      <c:catAx>
        <c:axId val="20189570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Product</a:t>
                </a:r>
                <a:r>
                  <a:rPr lang="en-US" sz="1400" b="1" baseline="0"/>
                  <a:t> </a:t>
                </a:r>
                <a:endParaRPr lang="en-US" sz="14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8950768"/>
        <c:crosses val="autoZero"/>
        <c:auto val="1"/>
        <c:lblAlgn val="ctr"/>
        <c:lblOffset val="100"/>
        <c:noMultiLvlLbl val="0"/>
      </c:catAx>
      <c:valAx>
        <c:axId val="201895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Quantity</a:t>
                </a:r>
                <a:r>
                  <a:rPr lang="en-US" sz="1400" b="1" baseline="0"/>
                  <a:t> </a:t>
                </a:r>
                <a:endParaRPr lang="en-US" sz="14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8957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372404789222416"/>
          <c:y val="3.6550657748147274E-2"/>
          <c:w val="0.20191561875661065"/>
          <c:h val="0.1606113232851881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1 Cleaned dataset.xlsx]Trend !PivotTable5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Trend monthly Revenue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38100" cap="rnd">
            <a:solidFill>
              <a:schemeClr val="accent1"/>
            </a:solidFill>
            <a:round/>
          </a:ln>
          <a:effectLst/>
        </c:spPr>
        <c:marker>
          <c:symbol val="circle"/>
          <c:size val="8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38100" cap="rnd">
            <a:solidFill>
              <a:schemeClr val="accent1"/>
            </a:solidFill>
            <a:round/>
          </a:ln>
          <a:effectLst/>
        </c:spPr>
        <c:marker>
          <c:symbol val="circle"/>
          <c:size val="8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38100" cap="rnd">
            <a:solidFill>
              <a:schemeClr val="accent1"/>
            </a:solidFill>
            <a:round/>
          </a:ln>
          <a:effectLst/>
        </c:spPr>
        <c:marker>
          <c:symbol val="circle"/>
          <c:size val="8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5515947576475251"/>
          <c:y val="0.1610021348563824"/>
          <c:w val="0.72165470853324243"/>
          <c:h val="0.54818398580459138"/>
        </c:manualLayout>
      </c:layout>
      <c:lineChart>
        <c:grouping val="stacked"/>
        <c:varyColors val="0"/>
        <c:ser>
          <c:idx val="0"/>
          <c:order val="0"/>
          <c:tx>
            <c:strRef>
              <c:f>'Trend '!$B$3</c:f>
              <c:strCache>
                <c:ptCount val="1"/>
                <c:pt idx="0">
                  <c:v>Total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cat>
            <c:multiLvlStrRef>
              <c:f>'Trend '!$A$4:$A$70</c:f>
              <c:multiLvlStrCache>
                <c:ptCount val="4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  <c:pt idx="24">
                    <c:v>Jan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Apr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Aug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Dec</c:v>
                  </c:pt>
                  <c:pt idx="36">
                    <c:v>Jan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Apr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Aug</c:v>
                  </c:pt>
                  <c:pt idx="44">
                    <c:v>Sep</c:v>
                  </c:pt>
                  <c:pt idx="45">
                    <c:v>Oct</c:v>
                  </c:pt>
                </c:lvl>
                <c:lvl>
                  <c:pt idx="0">
                    <c:v>Qtr1</c:v>
                  </c:pt>
                  <c:pt idx="3">
                    <c:v>Qtr2</c:v>
                  </c:pt>
                  <c:pt idx="6">
                    <c:v>Qtr3</c:v>
                  </c:pt>
                  <c:pt idx="9">
                    <c:v>Qtr4</c:v>
                  </c:pt>
                  <c:pt idx="12">
                    <c:v>Qtr1</c:v>
                  </c:pt>
                  <c:pt idx="15">
                    <c:v>Qtr2</c:v>
                  </c:pt>
                  <c:pt idx="18">
                    <c:v>Qtr3</c:v>
                  </c:pt>
                  <c:pt idx="21">
                    <c:v>Qtr4</c:v>
                  </c:pt>
                  <c:pt idx="24">
                    <c:v>Qtr1</c:v>
                  </c:pt>
                  <c:pt idx="27">
                    <c:v>Qtr2</c:v>
                  </c:pt>
                  <c:pt idx="30">
                    <c:v>Qtr3</c:v>
                  </c:pt>
                  <c:pt idx="33">
                    <c:v>Qtr4</c:v>
                  </c:pt>
                  <c:pt idx="36">
                    <c:v>Qtr1</c:v>
                  </c:pt>
                  <c:pt idx="39">
                    <c:v>Qtr2</c:v>
                  </c:pt>
                  <c:pt idx="42">
                    <c:v>Qtr3</c:v>
                  </c:pt>
                  <c:pt idx="45">
                    <c:v>Qtr4</c:v>
                  </c:pt>
                </c:lvl>
                <c:lvl>
                  <c:pt idx="0">
                    <c:v>2023</c:v>
                  </c:pt>
                  <c:pt idx="12">
                    <c:v>2024</c:v>
                  </c:pt>
                  <c:pt idx="24">
                    <c:v>2025</c:v>
                  </c:pt>
                  <c:pt idx="36">
                    <c:v>2026</c:v>
                  </c:pt>
                </c:lvl>
              </c:multiLvlStrCache>
            </c:multiLvlStrRef>
          </c:cat>
          <c:val>
            <c:numRef>
              <c:f>'Trend '!$B$4:$B$70</c:f>
              <c:numCache>
                <c:formatCode>_([$€-2]\ * #,##0.00_);_([$€-2]\ * \(#,##0.00\);_([$€-2]\ * "-"??_);_(@_)</c:formatCode>
                <c:ptCount val="46"/>
                <c:pt idx="0">
                  <c:v>12259.230000000003</c:v>
                </c:pt>
                <c:pt idx="1">
                  <c:v>10214.970000000001</c:v>
                </c:pt>
                <c:pt idx="2">
                  <c:v>15478.6</c:v>
                </c:pt>
                <c:pt idx="3">
                  <c:v>13357.230000000001</c:v>
                </c:pt>
                <c:pt idx="4">
                  <c:v>11520.780000000002</c:v>
                </c:pt>
                <c:pt idx="5">
                  <c:v>11319.23</c:v>
                </c:pt>
                <c:pt idx="6">
                  <c:v>11337.039999999999</c:v>
                </c:pt>
                <c:pt idx="7">
                  <c:v>9630.9500000000007</c:v>
                </c:pt>
                <c:pt idx="8">
                  <c:v>8684.3700000000026</c:v>
                </c:pt>
                <c:pt idx="9">
                  <c:v>9997.4299999999985</c:v>
                </c:pt>
                <c:pt idx="10">
                  <c:v>12182.050000000003</c:v>
                </c:pt>
                <c:pt idx="11">
                  <c:v>16614.960000000003</c:v>
                </c:pt>
                <c:pt idx="12">
                  <c:v>10784.810000000001</c:v>
                </c:pt>
                <c:pt idx="13">
                  <c:v>9994.130000000001</c:v>
                </c:pt>
                <c:pt idx="14">
                  <c:v>10626.889999999998</c:v>
                </c:pt>
                <c:pt idx="15">
                  <c:v>16449.289999999997</c:v>
                </c:pt>
                <c:pt idx="16">
                  <c:v>14807.87</c:v>
                </c:pt>
                <c:pt idx="17">
                  <c:v>10624.189999999999</c:v>
                </c:pt>
                <c:pt idx="18">
                  <c:v>12483.679999999998</c:v>
                </c:pt>
                <c:pt idx="19">
                  <c:v>11378.54</c:v>
                </c:pt>
                <c:pt idx="20">
                  <c:v>9533.2100000000009</c:v>
                </c:pt>
                <c:pt idx="21">
                  <c:v>9584.8799999999974</c:v>
                </c:pt>
                <c:pt idx="22">
                  <c:v>13126.049999999997</c:v>
                </c:pt>
                <c:pt idx="23">
                  <c:v>13297.129999999997</c:v>
                </c:pt>
                <c:pt idx="24">
                  <c:v>12017.03</c:v>
                </c:pt>
                <c:pt idx="25">
                  <c:v>12144.94</c:v>
                </c:pt>
                <c:pt idx="26">
                  <c:v>16363.74</c:v>
                </c:pt>
                <c:pt idx="27">
                  <c:v>14280.18</c:v>
                </c:pt>
                <c:pt idx="28">
                  <c:v>12673.009999999998</c:v>
                </c:pt>
                <c:pt idx="29">
                  <c:v>11888.999999999998</c:v>
                </c:pt>
                <c:pt idx="30">
                  <c:v>11156.859999999997</c:v>
                </c:pt>
                <c:pt idx="31">
                  <c:v>11324.910000000002</c:v>
                </c:pt>
                <c:pt idx="32">
                  <c:v>9561.77</c:v>
                </c:pt>
                <c:pt idx="33">
                  <c:v>11110.21</c:v>
                </c:pt>
                <c:pt idx="34">
                  <c:v>13148.980000000001</c:v>
                </c:pt>
                <c:pt idx="35">
                  <c:v>13108.95</c:v>
                </c:pt>
                <c:pt idx="36">
                  <c:v>9584.8799999999992</c:v>
                </c:pt>
                <c:pt idx="37">
                  <c:v>11793.28</c:v>
                </c:pt>
                <c:pt idx="38">
                  <c:v>14468.710000000001</c:v>
                </c:pt>
                <c:pt idx="39">
                  <c:v>13813.26</c:v>
                </c:pt>
                <c:pt idx="40">
                  <c:v>11316.85</c:v>
                </c:pt>
                <c:pt idx="41">
                  <c:v>9735.380000000001</c:v>
                </c:pt>
                <c:pt idx="42">
                  <c:v>14252.609999999997</c:v>
                </c:pt>
                <c:pt idx="43">
                  <c:v>10606.08</c:v>
                </c:pt>
                <c:pt idx="44">
                  <c:v>10134.990000000002</c:v>
                </c:pt>
                <c:pt idx="45">
                  <c:v>4054.59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7C-47B9-8B5E-241A5EC22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2058048"/>
        <c:axId val="2042057088"/>
      </c:lineChart>
      <c:catAx>
        <c:axId val="20420580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Month/Year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2057088"/>
        <c:crosses val="autoZero"/>
        <c:auto val="1"/>
        <c:lblAlgn val="ctr"/>
        <c:lblOffset val="100"/>
        <c:noMultiLvlLbl val="0"/>
      </c:catAx>
      <c:valAx>
        <c:axId val="2042057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 Amount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[$€-2]\ * #,##0.00_);_([$€-2]\ * \(#,##0.00\);_([$€-2]\ 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2058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9947589098532497"/>
          <c:y val="0.90019543861975149"/>
          <c:w val="8.8724168912848164E-2"/>
          <c:h val="9.79253061094210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[Excel 1 Cleaned dataset.xlsx]category!PivotTable6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Profitability – Revenue, Cost &amp; Profit by Category (€)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category!$B$3</c:f>
              <c:strCache>
                <c:ptCount val="1"/>
                <c:pt idx="0">
                  <c:v>Sum of Sales_Revenue_EUR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category!$A$4:$A$8</c:f>
              <c:strCache>
                <c:ptCount val="4"/>
                <c:pt idx="0">
                  <c:v>Electronics</c:v>
                </c:pt>
                <c:pt idx="1">
                  <c:v>Home &amp; Office</c:v>
                </c:pt>
                <c:pt idx="2">
                  <c:v>Lifestyle</c:v>
                </c:pt>
                <c:pt idx="3">
                  <c:v>Stationery</c:v>
                </c:pt>
              </c:strCache>
            </c:strRef>
          </c:cat>
          <c:val>
            <c:numRef>
              <c:f>category!$B$4:$B$8</c:f>
              <c:numCache>
                <c:formatCode>_([$€-2]\ * #,##0.00_);_([$€-2]\ * \(#,##0.00\);_([$€-2]\ * "-"??_);_(@_)</c:formatCode>
                <c:ptCount val="4"/>
                <c:pt idx="0">
                  <c:v>292255.23999999958</c:v>
                </c:pt>
                <c:pt idx="1">
                  <c:v>105113.96</c:v>
                </c:pt>
                <c:pt idx="2">
                  <c:v>84653.610000000015</c:v>
                </c:pt>
                <c:pt idx="3">
                  <c:v>61804.910000000091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B3-4961-B29A-AE7D15FFF3D3}"/>
            </c:ext>
          </c:extLst>
        </c:ser>
        <c:ser>
          <c:idx val="1"/>
          <c:order val="1"/>
          <c:tx>
            <c:strRef>
              <c:f>category!$C$3</c:f>
              <c:strCache>
                <c:ptCount val="1"/>
                <c:pt idx="0">
                  <c:v>Sum of Profit_EUR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category!$A$4:$A$8</c:f>
              <c:strCache>
                <c:ptCount val="4"/>
                <c:pt idx="0">
                  <c:v>Electronics</c:v>
                </c:pt>
                <c:pt idx="1">
                  <c:v>Home &amp; Office</c:v>
                </c:pt>
                <c:pt idx="2">
                  <c:v>Lifestyle</c:v>
                </c:pt>
                <c:pt idx="3">
                  <c:v>Stationery</c:v>
                </c:pt>
              </c:strCache>
            </c:strRef>
          </c:cat>
          <c:val>
            <c:numRef>
              <c:f>category!$C$4:$C$8</c:f>
              <c:numCache>
                <c:formatCode>_([$€-2]\ * #,##0.00_);_([$€-2]\ * \(#,##0.00\);_([$€-2]\ * "-"??_);_(@_)</c:formatCode>
                <c:ptCount val="4"/>
                <c:pt idx="0">
                  <c:v>163093.84000000003</c:v>
                </c:pt>
                <c:pt idx="1">
                  <c:v>50495.959999999985</c:v>
                </c:pt>
                <c:pt idx="2">
                  <c:v>51735.11</c:v>
                </c:pt>
                <c:pt idx="3">
                  <c:v>41420.61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B3-4961-B29A-AE7D15FFF3D3}"/>
            </c:ext>
          </c:extLst>
        </c:ser>
        <c:ser>
          <c:idx val="2"/>
          <c:order val="2"/>
          <c:tx>
            <c:strRef>
              <c:f>category!$D$3</c:f>
              <c:strCache>
                <c:ptCount val="1"/>
                <c:pt idx="0">
                  <c:v>Sum of Cost_EUR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category!$A$4:$A$8</c:f>
              <c:strCache>
                <c:ptCount val="4"/>
                <c:pt idx="0">
                  <c:v>Electronics</c:v>
                </c:pt>
                <c:pt idx="1">
                  <c:v>Home &amp; Office</c:v>
                </c:pt>
                <c:pt idx="2">
                  <c:v>Lifestyle</c:v>
                </c:pt>
                <c:pt idx="3">
                  <c:v>Stationery</c:v>
                </c:pt>
              </c:strCache>
            </c:strRef>
          </c:cat>
          <c:val>
            <c:numRef>
              <c:f>category!$D$4:$D$8</c:f>
              <c:numCache>
                <c:formatCode>_([$€-2]\ * #,##0.00_);_([$€-2]\ * \(#,##0.00\);_([$€-2]\ * "-"??_);_(@_)</c:formatCode>
                <c:ptCount val="4"/>
                <c:pt idx="0">
                  <c:v>129161.40000000001</c:v>
                </c:pt>
                <c:pt idx="1">
                  <c:v>54618</c:v>
                </c:pt>
                <c:pt idx="2">
                  <c:v>32918.5</c:v>
                </c:pt>
                <c:pt idx="3">
                  <c:v>20384.300000000007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B3-4961-B29A-AE7D15FFF3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444616960"/>
        <c:axId val="444617440"/>
        <c:axId val="0"/>
      </c:bar3DChart>
      <c:catAx>
        <c:axId val="4446169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617440"/>
        <c:crosses val="autoZero"/>
        <c:auto val="1"/>
        <c:lblAlgn val="ctr"/>
        <c:lblOffset val="100"/>
        <c:noMultiLvlLbl val="0"/>
      </c:catAx>
      <c:valAx>
        <c:axId val="444617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[$€-2]\ * #,##0.00_);_([$€-2]\ * \(#,##0.00\);_([$€-2]\ 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616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663934446394228"/>
          <c:y val="4.7379776547821037E-2"/>
          <c:w val="0.29233193091778731"/>
          <c:h val="0.2510785429277987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[Excel 1 Cleaned dataset.xlsx]Segment !PivotTable8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Customer</a:t>
            </a:r>
            <a:r>
              <a:rPr lang="en-US" sz="1200" baseline="0"/>
              <a:t> Segment - Profit Vs Sales VS Payment method</a:t>
            </a:r>
            <a:endParaRPr lang="en-US" sz="1200"/>
          </a:p>
        </c:rich>
      </c:tx>
      <c:layout>
        <c:manualLayout>
          <c:xMode val="edge"/>
          <c:yMode val="edge"/>
          <c:x val="0.15030308461137751"/>
          <c:y val="5.88047676563329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9212129117978913"/>
          <c:y val="0.16003712277283999"/>
          <c:w val="0.60057773073928289"/>
          <c:h val="0.461683708786705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'Segment '!$B$3</c:f>
              <c:strCache>
                <c:ptCount val="1"/>
                <c:pt idx="0">
                  <c:v>Sum of Sales_Revenue_EUR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76000"/>
                    <a:shade val="51000"/>
                    <a:satMod val="130000"/>
                  </a:schemeClr>
                </a:gs>
                <a:gs pos="80000">
                  <a:schemeClr val="accent1">
                    <a:shade val="76000"/>
                    <a:shade val="93000"/>
                    <a:satMod val="130000"/>
                  </a:schemeClr>
                </a:gs>
                <a:gs pos="100000">
                  <a:schemeClr val="accent1">
                    <a:shade val="76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multiLvlStrRef>
              <c:f>'Segment '!$A$4:$A$19</c:f>
              <c:multiLvlStrCache>
                <c:ptCount val="12"/>
                <c:lvl>
                  <c:pt idx="0">
                    <c:v>Bank Transfer</c:v>
                  </c:pt>
                  <c:pt idx="1">
                    <c:v>Card</c:v>
                  </c:pt>
                  <c:pt idx="2">
                    <c:v>Cash</c:v>
                  </c:pt>
                  <c:pt idx="3">
                    <c:v>PayPal</c:v>
                  </c:pt>
                  <c:pt idx="4">
                    <c:v>Bank Transfer</c:v>
                  </c:pt>
                  <c:pt idx="5">
                    <c:v>Card</c:v>
                  </c:pt>
                  <c:pt idx="6">
                    <c:v>Cash</c:v>
                  </c:pt>
                  <c:pt idx="7">
                    <c:v>PayPal</c:v>
                  </c:pt>
                  <c:pt idx="8">
                    <c:v>Bank Transfer</c:v>
                  </c:pt>
                  <c:pt idx="9">
                    <c:v>Card</c:v>
                  </c:pt>
                  <c:pt idx="10">
                    <c:v>Cash</c:v>
                  </c:pt>
                  <c:pt idx="11">
                    <c:v>PayPal</c:v>
                  </c:pt>
                </c:lvl>
                <c:lvl>
                  <c:pt idx="0">
                    <c:v>Corporate</c:v>
                  </c:pt>
                  <c:pt idx="4">
                    <c:v>Retail Customer</c:v>
                  </c:pt>
                  <c:pt idx="8">
                    <c:v>Small Business</c:v>
                  </c:pt>
                </c:lvl>
              </c:multiLvlStrCache>
            </c:multiLvlStrRef>
          </c:cat>
          <c:val>
            <c:numRef>
              <c:f>'Segment '!$B$4:$B$19</c:f>
              <c:numCache>
                <c:formatCode>_([$€-2]\ * #,##0.00_);_([$€-2]\ * \(#,##0.00\);_([$€-2]\ * "-"??_);_(@_)</c:formatCode>
                <c:ptCount val="12"/>
                <c:pt idx="0">
                  <c:v>15691.929999999997</c:v>
                </c:pt>
                <c:pt idx="1">
                  <c:v>41646.470000000008</c:v>
                </c:pt>
                <c:pt idx="2">
                  <c:v>3974.9799999999991</c:v>
                </c:pt>
                <c:pt idx="3">
                  <c:v>9465.26</c:v>
                </c:pt>
                <c:pt idx="4">
                  <c:v>61467.039999999972</c:v>
                </c:pt>
                <c:pt idx="5">
                  <c:v>188605.53999999986</c:v>
                </c:pt>
                <c:pt idx="6">
                  <c:v>24251.699999999997</c:v>
                </c:pt>
                <c:pt idx="7">
                  <c:v>43473.840000000011</c:v>
                </c:pt>
                <c:pt idx="8">
                  <c:v>31697.159999999993</c:v>
                </c:pt>
                <c:pt idx="9">
                  <c:v>91380.330000000016</c:v>
                </c:pt>
                <c:pt idx="10">
                  <c:v>12423.61</c:v>
                </c:pt>
                <c:pt idx="11">
                  <c:v>19749.859999999997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5C-4166-9751-D0904464E2C4}"/>
            </c:ext>
          </c:extLst>
        </c:ser>
        <c:ser>
          <c:idx val="1"/>
          <c:order val="1"/>
          <c:tx>
            <c:strRef>
              <c:f>'Segment '!$C$3</c:f>
              <c:strCache>
                <c:ptCount val="1"/>
                <c:pt idx="0">
                  <c:v>Sum of Profit_EUR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77000"/>
                    <a:shade val="51000"/>
                    <a:satMod val="130000"/>
                  </a:schemeClr>
                </a:gs>
                <a:gs pos="80000">
                  <a:schemeClr val="accent1">
                    <a:tint val="77000"/>
                    <a:shade val="93000"/>
                    <a:satMod val="130000"/>
                  </a:schemeClr>
                </a:gs>
                <a:gs pos="100000">
                  <a:schemeClr val="accent1">
                    <a:tint val="77000"/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multiLvlStrRef>
              <c:f>'Segment '!$A$4:$A$19</c:f>
              <c:multiLvlStrCache>
                <c:ptCount val="12"/>
                <c:lvl>
                  <c:pt idx="0">
                    <c:v>Bank Transfer</c:v>
                  </c:pt>
                  <c:pt idx="1">
                    <c:v>Card</c:v>
                  </c:pt>
                  <c:pt idx="2">
                    <c:v>Cash</c:v>
                  </c:pt>
                  <c:pt idx="3">
                    <c:v>PayPal</c:v>
                  </c:pt>
                  <c:pt idx="4">
                    <c:v>Bank Transfer</c:v>
                  </c:pt>
                  <c:pt idx="5">
                    <c:v>Card</c:v>
                  </c:pt>
                  <c:pt idx="6">
                    <c:v>Cash</c:v>
                  </c:pt>
                  <c:pt idx="7">
                    <c:v>PayPal</c:v>
                  </c:pt>
                  <c:pt idx="8">
                    <c:v>Bank Transfer</c:v>
                  </c:pt>
                  <c:pt idx="9">
                    <c:v>Card</c:v>
                  </c:pt>
                  <c:pt idx="10">
                    <c:v>Cash</c:v>
                  </c:pt>
                  <c:pt idx="11">
                    <c:v>PayPal</c:v>
                  </c:pt>
                </c:lvl>
                <c:lvl>
                  <c:pt idx="0">
                    <c:v>Corporate</c:v>
                  </c:pt>
                  <c:pt idx="4">
                    <c:v>Retail Customer</c:v>
                  </c:pt>
                  <c:pt idx="8">
                    <c:v>Small Business</c:v>
                  </c:pt>
                </c:lvl>
              </c:multiLvlStrCache>
            </c:multiLvlStrRef>
          </c:cat>
          <c:val>
            <c:numRef>
              <c:f>'Segment '!$C$4:$C$19</c:f>
              <c:numCache>
                <c:formatCode>_([$€-2]\ * #,##0.00_);_([$€-2]\ * \(#,##0.00\);_([$€-2]\ * "-"??_);_(@_)</c:formatCode>
                <c:ptCount val="12"/>
                <c:pt idx="0">
                  <c:v>8876.6300000000047</c:v>
                </c:pt>
                <c:pt idx="1">
                  <c:v>23605.869999999988</c:v>
                </c:pt>
                <c:pt idx="2">
                  <c:v>2169.5799999999995</c:v>
                </c:pt>
                <c:pt idx="3">
                  <c:v>5435.0599999999986</c:v>
                </c:pt>
                <c:pt idx="4">
                  <c:v>34012.640000000007</c:v>
                </c:pt>
                <c:pt idx="5">
                  <c:v>105340.74000000002</c:v>
                </c:pt>
                <c:pt idx="6">
                  <c:v>14110.399999999994</c:v>
                </c:pt>
                <c:pt idx="7">
                  <c:v>24721.139999999985</c:v>
                </c:pt>
                <c:pt idx="8">
                  <c:v>18173.559999999998</c:v>
                </c:pt>
                <c:pt idx="9">
                  <c:v>51880.530000000006</c:v>
                </c:pt>
                <c:pt idx="10">
                  <c:v>6942.3100000000013</c:v>
                </c:pt>
                <c:pt idx="11">
                  <c:v>11477.06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5C-4166-9751-D0904464E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44636640"/>
        <c:axId val="444620320"/>
      </c:barChart>
      <c:valAx>
        <c:axId val="44462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b="1"/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[$€-2]\ * #,##0.00_);_([$€-2]\ * \(#,##0.00\);_([$€-2]\ 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636640"/>
        <c:crosses val="autoZero"/>
        <c:crossBetween val="between"/>
      </c:valAx>
      <c:catAx>
        <c:axId val="4446366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Customer segment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46203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005293742841764"/>
          <c:y val="1.9819640302257219E-2"/>
          <c:w val="0.25828463997396445"/>
          <c:h val="0.138895302695646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3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63A63"/>
                </a:solidFill>
                <a:latin typeface="Aptos"/>
              </a:defRPr>
            </a:pPr>
            <a:r>
              <a:t>INVENTORY OVERSTOCK</a:t>
            </a:r>
            <a:br/>
            <a:r>
              <a:t>IDENTIFICATION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F75B5"/>
                </a:solidFill>
                <a:latin typeface="Aptos"/>
              </a:defRPr>
            </a:pPr>
            <a:r>
              <a:rPr dirty="0"/>
              <a:t>A data analysis project using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37381"/>
                </a:solidFill>
                <a:latin typeface="Aptos"/>
              </a:defRPr>
            </a:pPr>
            <a:r>
              <a:rPr dirty="0"/>
              <a:t>Understanding product movement, stock risk, sales performance and better replenishment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983480"/>
            <a:ext cx="3063240" cy="777240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A63"/>
                </a:solidFill>
                <a:latin typeface="Aptos"/>
              </a:defRPr>
            </a:pPr>
            <a:r>
              <a:t>Records: 2,400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983480"/>
            <a:ext cx="3063240" cy="777240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A63"/>
                </a:solidFill>
                <a:latin typeface="Aptos"/>
              </a:defRPr>
            </a:pPr>
            <a:r>
              <a:t>Products: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983480"/>
            <a:ext cx="3063240" cy="777240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3A63"/>
                </a:solidFill>
                <a:latin typeface="Aptos"/>
              </a:defRPr>
            </a:pPr>
            <a:r>
              <a:t>Period: Jan 2023 –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7381"/>
                </a:solidFill>
                <a:latin typeface="Aptos"/>
              </a:defRPr>
            </a:pPr>
            <a:r>
              <a:t>Why inventory analysis is 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7884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Some products sell quickly, while others remain in stock for a long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Excess inventory uses warehouse space and ties up business money.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Popular products may run out of stock, leading to lost sales and unhappy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Management needs a clear view of product movement, stock levels and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t>2. Aim and Analysis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7381"/>
                </a:solidFill>
                <a:latin typeface="Aptos"/>
              </a:defRPr>
            </a:pPr>
            <a:r>
              <a:t>The project uses seven questions to guide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lang="en-US" b="1" dirty="0">
                <a:solidFill>
                  <a:schemeClr val="tx1"/>
                </a:solidFill>
              </a:rPr>
              <a:t>Q1:</a:t>
            </a:r>
            <a:r>
              <a:rPr lang="en-US" b="1" dirty="0">
                <a:solidFill>
                  <a:schemeClr val="tx1"/>
                </a:solidFill>
                <a:latin typeface="Aptos"/>
              </a:rPr>
              <a:t>Which products are selling quickly?</a:t>
            </a:r>
          </a:p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lvl="0" algn="ctr"/>
            <a:r>
              <a:rPr lang="en-IN" b="1" dirty="0">
                <a:solidFill>
                  <a:schemeClr val="tx1"/>
                </a:solidFill>
              </a:rPr>
              <a:t>Q2: Which products remain unsold for long periods?</a:t>
            </a:r>
            <a:endParaRPr lang="en-US" b="1" dirty="0">
              <a:solidFill>
                <a:schemeClr val="tx1"/>
              </a:solidFill>
            </a:endParaRPr>
          </a:p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endParaRPr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endParaRPr lang="en-US" b="1" dirty="0">
              <a:solidFill>
                <a:schemeClr val="tx1"/>
              </a:solidFill>
            </a:endParaRPr>
          </a:p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lang="en-US" b="1" dirty="0">
                <a:solidFill>
                  <a:schemeClr val="tx1"/>
                </a:solidFill>
              </a:rPr>
              <a:t>Q3:</a:t>
            </a:r>
            <a:r>
              <a:rPr lang="en-IN" b="1" dirty="0">
                <a:solidFill>
                  <a:schemeClr val="tx1"/>
                </a:solidFill>
                <a:latin typeface="Aptos"/>
              </a:rPr>
              <a:t>Which items are overstocked in the warehouse?</a:t>
            </a:r>
            <a:endParaRPr lang="en-US" b="1" dirty="0">
              <a:solidFill>
                <a:schemeClr val="tx1"/>
              </a:solidFill>
              <a:latin typeface="Aptos"/>
            </a:endParaRPr>
          </a:p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379476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Q4:</a:t>
            </a:r>
            <a:r>
              <a:rPr lang="en-IN" b="1" dirty="0">
                <a:solidFill>
                  <a:schemeClr val="tx1"/>
                </a:solidFill>
                <a:latin typeface="Aptos"/>
              </a:rPr>
              <a:t>Which high-demand products frequently face stock shortages?</a:t>
            </a:r>
            <a:r>
              <a:rPr lang="en-IN" sz="1600" dirty="0">
                <a:solidFill>
                  <a:srgbClr val="203040"/>
                </a:solidFill>
                <a:latin typeface="Aptos"/>
              </a:rPr>
              <a:t> </a:t>
            </a:r>
            <a:endParaRPr lang="en-US" sz="1600" dirty="0">
              <a:solidFill>
                <a:srgbClr val="203040"/>
              </a:solidFill>
              <a:latin typeface="Aptos"/>
            </a:endParaRPr>
          </a:p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Q5: Which products generate the highest sales revenue?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3212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Q6: Which product categories have the highest demand?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35508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Q7:</a:t>
            </a:r>
            <a:r>
              <a:rPr lang="en-IN" b="1" dirty="0">
                <a:solidFill>
                  <a:schemeClr val="tx1"/>
                </a:solidFill>
                <a:latin typeface="Aptos"/>
              </a:rPr>
              <a:t>How do product sales and inventory levels change month by month and year by year? 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t>3. Data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7381"/>
                </a:solidFill>
                <a:latin typeface="Aptos"/>
              </a:defRPr>
            </a:pPr>
            <a:r>
              <a:t>Dataset overview and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/>
              <a:t>Workbook used: inventory_overstock_analysis_2400_rows.xlsx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Selected worksheet: </a:t>
            </a:r>
            <a:r>
              <a:rPr b="1" dirty="0" err="1">
                <a:solidFill>
                  <a:schemeClr val="tx1"/>
                </a:solidFill>
              </a:rPr>
              <a:t>Inventory_Data</a:t>
            </a:r>
            <a:r>
              <a:rPr b="1" dirty="0">
                <a:solidFill>
                  <a:schemeClr val="tx1"/>
                </a:solidFill>
              </a:rPr>
              <a:t>; 2,400 rows and 17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lang="en-US" b="1" dirty="0">
                <a:solidFill>
                  <a:schemeClr val="tx1"/>
                </a:solidFill>
              </a:rPr>
              <a:t>Products: 24; categories: 4; period: Jan 2023 to Oct 2026.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Key fields: product, category, order date, units sold, stock quantity, revenue, cost and profit.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Tools: Microsoft Excel, PivotTables, charts, filters and slicers; calculations are summarized for the 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t>4. Analysis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37381"/>
                </a:solidFill>
                <a:latin typeface="Aptos"/>
              </a:defRPr>
            </a:pPr>
            <a:r>
              <a:t>Steps followed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1. Understand the business problem and define the seven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2. Review the dataset structure and check key fields and date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/>
              <a:t>3. </a:t>
            </a:r>
            <a:r>
              <a:rPr b="1" dirty="0" err="1"/>
              <a:t>Summarise</a:t>
            </a:r>
            <a:r>
              <a:rPr b="1" dirty="0"/>
              <a:t> sales, stock and revenue by product and category.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4. Compare stock levels with sales as a screening method for possible overstock or low 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5. Create charts to make patterns easier to understand.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3212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rPr b="1" dirty="0">
                <a:solidFill>
                  <a:schemeClr val="tx1"/>
                </a:solidFill>
              </a:rPr>
              <a:t>6. Turn findings into purchasing, promotion and replenishment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347715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rPr dirty="0"/>
              <a:t>1. Top</a:t>
            </a:r>
            <a:r>
              <a:rPr lang="en-US" dirty="0"/>
              <a:t> 10 </a:t>
            </a:r>
            <a:r>
              <a:rPr dirty="0"/>
              <a:t>-</a:t>
            </a:r>
            <a:r>
              <a:rPr lang="en-US" dirty="0"/>
              <a:t> Selling Products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06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570E4E7-3D18-4295-BF73-74578FCFF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9424591"/>
              </p:ext>
            </p:extLst>
          </p:nvPr>
        </p:nvGraphicFramePr>
        <p:xfrm>
          <a:off x="530352" y="1464416"/>
          <a:ext cx="11064240" cy="5045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2752" y="320040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rPr sz="2400" dirty="0"/>
              <a:t>2. </a:t>
            </a:r>
            <a:r>
              <a:rPr lang="en-US" sz="2400" spc="-1" dirty="0">
                <a:latin typeface="Calibri"/>
              </a:rPr>
              <a:t>Product – Units Sold by Product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92E8552-CD38-4595-9EEA-B6FF56FEA0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8264915"/>
              </p:ext>
            </p:extLst>
          </p:nvPr>
        </p:nvGraphicFramePr>
        <p:xfrm>
          <a:off x="1349963" y="1140542"/>
          <a:ext cx="9492073" cy="44555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8980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rPr lang="en-US" dirty="0"/>
              <a:t>3. Overstock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3B9AFF2-0481-46FA-BBC7-47AF7EB319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1484431"/>
              </p:ext>
            </p:extLst>
          </p:nvPr>
        </p:nvGraphicFramePr>
        <p:xfrm>
          <a:off x="1130710" y="1307689"/>
          <a:ext cx="9448799" cy="4312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9230" y="417627"/>
            <a:ext cx="1115568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rPr lang="en-US" dirty="0"/>
              <a:t>4. Monthly/Yearly Sales Trend</a:t>
            </a:r>
          </a:p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09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FE79963-181F-457C-B056-FAC1015C25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3041538"/>
              </p:ext>
            </p:extLst>
          </p:nvPr>
        </p:nvGraphicFramePr>
        <p:xfrm>
          <a:off x="502920" y="1228446"/>
          <a:ext cx="10744200" cy="4578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rPr dirty="0"/>
              <a:t>5. </a:t>
            </a:r>
            <a:r>
              <a:rPr lang="en-US" dirty="0"/>
              <a:t>Category Analysis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41A9C68-D436-4F2C-9A18-3A9DD92B7B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8860200"/>
              </p:ext>
            </p:extLst>
          </p:nvPr>
        </p:nvGraphicFramePr>
        <p:xfrm>
          <a:off x="678426" y="1691148"/>
          <a:ext cx="10568694" cy="3689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3243116-99E6-4E46-9B6A-B92A233CFC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3278272"/>
              </p:ext>
            </p:extLst>
          </p:nvPr>
        </p:nvGraphicFramePr>
        <p:xfrm>
          <a:off x="943897" y="1281298"/>
          <a:ext cx="10019071" cy="4295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DCADF14-1F6A-DE77-AEA1-F3BC0185DFD1}"/>
              </a:ext>
            </a:extLst>
          </p:cNvPr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rPr lang="en-US" dirty="0"/>
              <a:t>6</a:t>
            </a:r>
            <a:r>
              <a:rPr dirty="0"/>
              <a:t>. </a:t>
            </a:r>
            <a:r>
              <a:rPr lang="en-US" dirty="0"/>
              <a:t>Customer Segment Analysis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rPr dirty="0"/>
              <a:t> 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Prioritise regular stock checks for products with high sales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Set reorder levels using average demand, supplier lead time and safety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Review products with high stock-to-sales ratios before ordering more.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Use promotions or controlled discounts for confirmed slow-moving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Review zero-sales records to distinguish low demand from data or supply issues.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53212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Monitor the dashboard monthly and compare results over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406908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63A63"/>
                </a:solidFill>
                <a:latin typeface="Aptos"/>
              </a:defRPr>
            </a:pPr>
            <a:r>
              <a:rPr dirty="0"/>
              <a:t>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3738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The dashboard helps compare product sales, stock levels, revenue and category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The results can support better purchasing, less unnecessary stock and fewer missed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Overstock and shortage labels should be confirmed using stock receipts, sales dates, supplier lead times and reorder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86200"/>
            <a:ext cx="10835640" cy="612648"/>
          </a:xfrm>
          <a:prstGeom prst="roundRect">
            <a:avLst/>
          </a:prstGeom>
          <a:solidFill>
            <a:srgbClr val="EAF3FA"/>
          </a:solidFill>
          <a:ln>
            <a:solidFill>
              <a:srgbClr val="9DC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defRPr sz="1600">
                <a:solidFill>
                  <a:srgbClr val="203040"/>
                </a:solidFill>
                <a:latin typeface="Aptos"/>
              </a:defRPr>
            </a:pPr>
            <a:r>
              <a:t>This workbook is an analysis dataset; findings should be treated as indicative unless validated against actual business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627</Words>
  <Application>Microsoft Office PowerPoint</Application>
  <PresentationFormat>Widescreen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kirthic</cp:lastModifiedBy>
  <cp:revision>21</cp:revision>
  <dcterms:created xsi:type="dcterms:W3CDTF">2013-01-27T09:14:16Z</dcterms:created>
  <dcterms:modified xsi:type="dcterms:W3CDTF">2026-10-25T13:13:09Z</dcterms:modified>
  <cp:category/>
</cp:coreProperties>
</file>